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4" name="Image 0" descr="/tmp/pptx-build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822960"/>
            <a:ext cx="1097280" cy="914400"/>
          </a:xfrm>
          <a:prstGeom prst="rect">
            <a:avLst/>
          </a:prstGeom>
        </p:spPr>
      </p:pic>
      <p:pic>
        <p:nvPicPr>
          <p:cNvPr id="5" name="Image 1" descr="/tmp/pptx-build/logo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20240"/>
            <a:ext cx="420624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3154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Certification Management Platform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Certification Operations · Delivered Globally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1280160" y="52120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280160" y="5212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17021-1 Compliant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840480" y="52120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0" y="5212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 + NABCB Accredited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0" y="52120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0" y="5212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Countries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961120" y="521208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961120" y="52120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17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60020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46304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160020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30352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138160" y="141732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160020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9144000" y="17373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Features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1089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1463040" y="3246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Usage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297680" y="292608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80560" y="31089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5303520" y="3246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Chart of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138160" y="292608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21040" y="310896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144000" y="32461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&amp; Benefits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443484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461772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1463040" y="4754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297680" y="443484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461772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400" dirty="0"/>
          </a:p>
        </p:txBody>
      </p:sp>
      <p:sp>
        <p:nvSpPr>
          <p:cNvPr id="29" name="Text 26"/>
          <p:cNvSpPr/>
          <p:nvPr/>
        </p:nvSpPr>
        <p:spPr>
          <a:xfrm>
            <a:off x="5303520" y="4754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Streamlined Checklist &amp; Approvals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138160" y="4434840"/>
            <a:ext cx="3657600" cy="1325880"/>
          </a:xfrm>
          <a:prstGeom prst="roundRect">
            <a:avLst>
              <a:gd name="adj" fmla="val 8276"/>
            </a:avLst>
          </a:prstGeom>
          <a:solidFill>
            <a:srgbClr val="F8FAFC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461772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400" dirty="0"/>
          </a:p>
        </p:txBody>
      </p:sp>
      <p:sp>
        <p:nvSpPr>
          <p:cNvPr id="32" name="Text 29"/>
          <p:cNvSpPr/>
          <p:nvPr/>
        </p:nvSpPr>
        <p:spPr>
          <a:xfrm>
            <a:off x="9144000" y="47548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of System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is the audit intelligence platform behind global certification — bringing every stage from enquiry to renewal into one role-aware, AI-assisted workspace.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3044952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926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audit workflow across 14 stages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547872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29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personas with strict separation of duties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050792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9319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Client Coordinator portal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4553712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434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Qmics Certification AI assistant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5056632"/>
            <a:ext cx="164592" cy="164592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9377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Multi-country, multi-standard ready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040880" y="1325880"/>
            <a:ext cx="4663440" cy="4572000"/>
          </a:xfrm>
          <a:prstGeom prst="roundRect">
            <a:avLst>
              <a:gd name="adj" fmla="val 300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78040" y="1783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QMICS Solutions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2286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years in IE, IT, Quality &amp; Process Management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7804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5200" dirty="0"/>
          </a:p>
        </p:txBody>
      </p:sp>
      <p:sp>
        <p:nvSpPr>
          <p:cNvPr id="22" name="Text 19"/>
          <p:cNvSpPr/>
          <p:nvPr/>
        </p:nvSpPr>
        <p:spPr>
          <a:xfrm>
            <a:off x="717804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4108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24" name="Text 21"/>
          <p:cNvSpPr/>
          <p:nvPr/>
        </p:nvSpPr>
        <p:spPr>
          <a:xfrm>
            <a:off x="864108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04120" y="3200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26" name="Text 23"/>
          <p:cNvSpPr/>
          <p:nvPr/>
        </p:nvSpPr>
        <p:spPr>
          <a:xfrm>
            <a:off x="1010412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78040" y="48920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"Structured certification operations, delivered globally."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E2E2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30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info scattered across email, spreadsheets, paper.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554480"/>
            <a:ext cx="36576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0292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Handoffs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+ email routing between coordinator, auditor, mgmt.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0" y="132588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D7AA"/>
          </a:solidFill>
          <a:ln w="6350">
            <a:solidFill>
              <a:srgbClr val="7C2D1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0" y="1554480"/>
            <a:ext cx="365760" cy="36576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18" name="Text 15"/>
          <p:cNvSpPr/>
          <p:nvPr/>
        </p:nvSpPr>
        <p:spPr>
          <a:xfrm>
            <a:off x="84124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915400" y="1554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Risk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412480" y="210312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surveillance / recertification — no central tracker.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ECACA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1430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 when? Hard to reconstruct for IAF review.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434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DE68A"/>
          </a:solidFill>
          <a:ln w="6350">
            <a:solidFill>
              <a:srgbClr val="A1620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3931920"/>
            <a:ext cx="365760" cy="365760"/>
          </a:xfrm>
          <a:prstGeom prst="rect">
            <a:avLst/>
          </a:prstGeom>
          <a:solidFill>
            <a:srgbClr val="A16207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0292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162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Confusion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5262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edited by multiple people without authority controls.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229600" y="3703320"/>
            <a:ext cx="3657600" cy="2148840"/>
          </a:xfrm>
          <a:prstGeom prst="roundRect">
            <a:avLst>
              <a:gd name="adj" fmla="val 4255"/>
            </a:avLst>
          </a:prstGeom>
          <a:solidFill>
            <a:srgbClr val="FFE4E6"/>
          </a:solidFill>
          <a:ln w="6350">
            <a:solidFill>
              <a:srgbClr val="9F123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3931920"/>
            <a:ext cx="365760" cy="36576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3" name="Text 30"/>
          <p:cNvSpPr/>
          <p:nvPr/>
        </p:nvSpPr>
        <p:spPr>
          <a:xfrm>
            <a:off x="84124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9154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Gaps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412480" y="448056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has no live view of audit pipeline + KPIs.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Inefficiency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1732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3154680" y="21031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cert bodies still run pipelines in Excel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6459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hrs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8915400" y="21031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 per coordinator on handoffs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7947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4023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6000" dirty="0"/>
          </a:p>
        </p:txBody>
      </p:sp>
      <p:sp>
        <p:nvSpPr>
          <p:cNvPr id="14" name="Text 11"/>
          <p:cNvSpPr/>
          <p:nvPr/>
        </p:nvSpPr>
        <p:spPr>
          <a:xfrm>
            <a:off x="3154680" y="44805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certs missed deadline triggers last year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37947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0A2A5F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402336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6000" dirty="0"/>
          </a:p>
        </p:txBody>
      </p:sp>
      <p:sp>
        <p:nvSpPr>
          <p:cNvPr id="17" name="Text 14"/>
          <p:cNvSpPr/>
          <p:nvPr/>
        </p:nvSpPr>
        <p:spPr>
          <a:xfrm>
            <a:off x="8915400" y="44805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management reports compiled manually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benchmarks (illustrative).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Features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· 14 workflow stages · 6 role personas · one unified workspace.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286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80160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every market — country flags + currencies baked 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0574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2286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166360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26280" y="29260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duties across 6 roles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0" y="20574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12480" y="22860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52560" y="23042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12480" y="29260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pending inbox + notifications bell on every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1148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3434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280160" y="4361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Demo-Ready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0080" y="49834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seeders populate every screen with realistic data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343400" y="41148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26280" y="43434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29" name="Text 26"/>
          <p:cNvSpPr/>
          <p:nvPr/>
        </p:nvSpPr>
        <p:spPr>
          <a:xfrm>
            <a:off x="45262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166360" y="4361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Multi-Country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526280" y="49834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countries across India, USA, UK, Germany, UAE, etc.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229600" y="411480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43434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5C130"/>
          </a:solidFill>
          <a:ln/>
        </p:spPr>
      </p:sp>
      <p:sp>
        <p:nvSpPr>
          <p:cNvPr id="34" name="Text 31"/>
          <p:cNvSpPr/>
          <p:nvPr/>
        </p:nvSpPr>
        <p:spPr>
          <a:xfrm>
            <a:off x="84124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052560" y="4361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412480" y="49834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Qmics Certification AI — workflow-aware assistant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Core Modules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581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Enquiry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+ convert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581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7472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Dispatch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WhatsApp / portal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1581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5508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 Onboarding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competence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098280" y="141732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35440" y="15819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23" name="Text 20"/>
          <p:cNvSpPr/>
          <p:nvPr/>
        </p:nvSpPr>
        <p:spPr>
          <a:xfrm>
            <a:off x="92354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235440" y="2148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Scheduling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3544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+ assign team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7947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59436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Workflow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94360" y="5120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14-stage tracker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37947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33" name="Text 30"/>
          <p:cNvSpPr/>
          <p:nvPr/>
        </p:nvSpPr>
        <p:spPr>
          <a:xfrm>
            <a:off x="347472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47472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&amp; Actions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3474720" y="5120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+ corrective actions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217920" y="37947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55080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38" name="Text 35"/>
          <p:cNvSpPr/>
          <p:nvPr/>
        </p:nvSpPr>
        <p:spPr>
          <a:xfrm>
            <a:off x="63550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35508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Certification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355080" y="5120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+ seal + deliver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98280" y="379476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8890">
            <a:solidFill>
              <a:srgbClr val="F5C13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35440" y="39593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5C130"/>
          </a:solidFill>
          <a:ln/>
        </p:spPr>
      </p:sp>
      <p:sp>
        <p:nvSpPr>
          <p:cNvPr id="43" name="Text 40"/>
          <p:cNvSpPr/>
          <p:nvPr/>
        </p:nvSpPr>
        <p:spPr>
          <a:xfrm>
            <a:off x="923544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9235440" y="45262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235440" y="5120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+ recert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14-Stage Audit Workflow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Pre-Registration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05740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14884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Submitted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4904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84048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Assigned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4068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53212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Reviewed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22376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Proposed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82396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2396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91540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Auditors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515600" y="141732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0A2A5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0607040" y="20574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Approved by Auditee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5720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Approved by Auditor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5740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05740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214884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 Progress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74904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4904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384048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Completed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44068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53212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13232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722376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Released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82396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82396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891540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515600" y="3520440"/>
            <a:ext cx="1554480" cy="1691640"/>
          </a:xfrm>
          <a:prstGeom prst="roundRect">
            <a:avLst>
              <a:gd name="adj" fmla="val 5882"/>
            </a:avLst>
          </a:prstGeom>
          <a:solidFill>
            <a:srgbClr val="1F6BBF"/>
          </a:solidFill>
          <a:ln w="5080">
            <a:solidFill>
              <a:srgbClr val="F5C13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1560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10607040" y="41605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Released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certification flows through these 14 stages with role-gated handoffs.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Usage — Qmics Certification AI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AI assistant accessible from every role, every page.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688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Role-aware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371600" y="29718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what each role can ask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24688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40880" y="24688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Workflow-aware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040880" y="29718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actual workflow rows + stages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4297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available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371600" y="48006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Floating, draggable chatbot on every page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26480" y="402336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0A2A5F"/>
          </a:solidFill>
          <a:ln w="7620">
            <a:solidFill>
              <a:srgbClr val="F5C13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55080" y="4297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63550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40880" y="4297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BYO Claude key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040880" y="480060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API key for advanced answers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Chart of Roles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 personas — each owns a distinct slice of the certification pipeline.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01168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2011680"/>
            <a:ext cx="3749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6654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97280" y="20665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oversight, approvals, KPIs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2011680"/>
            <a:ext cx="374904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206654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0" y="20665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Coordinator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8056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hub — scheduling + workflow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201168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0" y="2011680"/>
            <a:ext cx="374904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206654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61120" y="20665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12480" y="269748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execution + closure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420624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4206240"/>
            <a:ext cx="374904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42611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9728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48640" y="48920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checklist + findings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297680" y="420624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97680" y="4206240"/>
            <a:ext cx="3749040" cy="5029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9" name="Text 26"/>
          <p:cNvSpPr/>
          <p:nvPr/>
        </p:nvSpPr>
        <p:spPr>
          <a:xfrm>
            <a:off x="4434840" y="42611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02920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80560" y="48920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app, approves schedule, corrective actions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8229600" y="4206240"/>
            <a:ext cx="37490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29600" y="4206240"/>
            <a:ext cx="374904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4" name="Text 31"/>
          <p:cNvSpPr/>
          <p:nvPr/>
        </p:nvSpPr>
        <p:spPr>
          <a:xfrm>
            <a:off x="8366760" y="4261104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8961120" y="426110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Coordinator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412480" y="48920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portal — view own org data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Role Flow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173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47857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Auditee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application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E7490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4747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74720" y="2514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+ assigns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B45309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0080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0" y="2514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team + date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0" y="141732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1D4ED8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0" y="1554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3268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26880" y="25146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Conducts on-site audit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" y="37490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B45309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3886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864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Auditor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4846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findings + report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291840" y="37490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7C3AED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0" y="3886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47472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474720" y="4846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certification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17920" y="37490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E7490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3886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40080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400800" y="4846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+ delivers cert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144000" y="374904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0E7490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326880" y="38862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32688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Coord.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326880" y="48463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in client portal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&amp; Benefits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63040"/>
            <a:ext cx="2743200" cy="420624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7830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Shape 5"/>
          <p:cNvSpPr/>
          <p:nvPr/>
        </p:nvSpPr>
        <p:spPr>
          <a:xfrm>
            <a:off x="1417320" y="36118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Cycle-time reduction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743200" cy="420624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7830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6400" dirty="0"/>
          </a:p>
        </p:txBody>
      </p:sp>
      <p:sp>
        <p:nvSpPr>
          <p:cNvPr id="12" name="Shape 9"/>
          <p:cNvSpPr/>
          <p:nvPr/>
        </p:nvSpPr>
        <p:spPr>
          <a:xfrm>
            <a:off x="4343400" y="36118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On-time surveillance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743200" cy="420624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17830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6400" dirty="0"/>
          </a:p>
        </p:txBody>
      </p:sp>
      <p:sp>
        <p:nvSpPr>
          <p:cNvPr id="16" name="Shape 13"/>
          <p:cNvSpPr/>
          <p:nvPr/>
        </p:nvSpPr>
        <p:spPr>
          <a:xfrm>
            <a:off x="7269480" y="36118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email threads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144000" y="1463040"/>
            <a:ext cx="2743200" cy="4206240"/>
          </a:xfrm>
          <a:prstGeom prst="roundRect">
            <a:avLst>
              <a:gd name="adj" fmla="val 4667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1783080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400" dirty="0"/>
          </a:p>
        </p:txBody>
      </p:sp>
      <p:sp>
        <p:nvSpPr>
          <p:cNvPr id="20" name="Shape 17"/>
          <p:cNvSpPr/>
          <p:nvPr/>
        </p:nvSpPr>
        <p:spPr>
          <a:xfrm>
            <a:off x="10195560" y="3611880"/>
            <a:ext cx="64008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1" name="Text 18"/>
          <p:cNvSpPr/>
          <p:nvPr/>
        </p:nvSpPr>
        <p:spPr>
          <a:xfrm>
            <a:off x="928116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 captured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data across 3 certification bodies, 8 countries.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vs. After CertiSphere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57784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26480" y="1371600"/>
            <a:ext cx="5577840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1371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Excel + email handoffs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96596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1965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Single in-app workflow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60604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Manual schedule chasing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60604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606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Auto-confirm + notify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24612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Lost findings, no audit log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24612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Timestamped audit trail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88620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886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Reports compiled monthly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126480" y="388620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3886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dashboards per role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452628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526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Client calls for status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26480" y="452628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45262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Read-only client portal 24×7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5166360"/>
            <a:ext cx="5577840" cy="548640"/>
          </a:xfrm>
          <a:prstGeom prst="rect">
            <a:avLst/>
          </a:prstGeom>
          <a:solidFill>
            <a:srgbClr val="FEE2E2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5166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One coordinator does it all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26480" y="5166360"/>
            <a:ext cx="5577840" cy="548640"/>
          </a:xfrm>
          <a:prstGeom prst="rect">
            <a:avLst/>
          </a:prstGeom>
          <a:solidFill>
            <a:srgbClr val="DCFCE7"/>
          </a:solidFill>
          <a:ln w="3810">
            <a:solidFill>
              <a:srgbClr val="86EFA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5166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Strict 6-role separation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 Diagram — Actors &amp; Use Cases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173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55448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325880" y="14173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/ Client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69748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325880" y="25603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Coordinator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7033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84048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325880" y="37033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8463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A2A5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4983480"/>
            <a:ext cx="594360" cy="594360"/>
          </a:xfrm>
          <a:prstGeom prst="ellipse">
            <a:avLst/>
          </a:prstGeom>
          <a:solidFill>
            <a:srgbClr val="F5C130"/>
          </a:solidFill>
          <a:ln w="12700">
            <a:solidFill>
              <a:srgbClr val="0A2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983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325880" y="484632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0" y="1417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0" y="1417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46520" y="1417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1417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Workflow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235440" y="1417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35440" y="1417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Audit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657600" y="2560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0" y="2560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Schedule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46520" y="2560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2560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Audit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9235440" y="2560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35440" y="2560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Findings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657600" y="3703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0" y="3703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Actions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46520" y="3703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3703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235440" y="3703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35440" y="3703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657600" y="4846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0" y="4846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Onboarding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46520" y="4846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4846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KPIs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9235440" y="4846320"/>
            <a:ext cx="2651760" cy="868680"/>
          </a:xfrm>
          <a:prstGeom prst="ellipse">
            <a:avLst/>
          </a:prstGeom>
          <a:solidFill>
            <a:srgbClr val="F8FAFC"/>
          </a:solidFill>
          <a:ln w="7620">
            <a:solidFill>
              <a:srgbClr val="0A2A5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235440" y="484632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Standards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Streamlined Checklist &amp; Approvals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280160" y="137160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304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Review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371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503920" y="13716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completeness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1488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1280160" y="214884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63040" y="2148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Onboarding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1208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03920" y="21488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to become live client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92608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29260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1280160" y="292608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3040" y="2926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Approval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12080" y="2926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+ Auditor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29260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confirmation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70332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37033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1280160" y="370332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6304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Review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212080" y="37033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03920" y="37033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Accept/reject corrective actions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8056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44805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Shape 29"/>
          <p:cNvSpPr/>
          <p:nvPr/>
        </p:nvSpPr>
        <p:spPr>
          <a:xfrm>
            <a:off x="1280160" y="448056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63040" y="44805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Sign-Off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212080" y="44805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503920" y="44805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approval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5257800"/>
            <a:ext cx="731520" cy="685800"/>
          </a:xfrm>
          <a:prstGeom prst="roundRect">
            <a:avLst>
              <a:gd name="adj" fmla="val 6667"/>
            </a:avLst>
          </a:prstGeom>
          <a:solidFill>
            <a:srgbClr val="F5C130"/>
          </a:solidFill>
          <a:ln/>
        </p:spPr>
      </p:sp>
      <p:sp>
        <p:nvSpPr>
          <p:cNvPr id="37" name="Text 34"/>
          <p:cNvSpPr/>
          <p:nvPr/>
        </p:nvSpPr>
        <p:spPr>
          <a:xfrm>
            <a:off x="457200" y="52578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Shape 35"/>
          <p:cNvSpPr/>
          <p:nvPr/>
        </p:nvSpPr>
        <p:spPr>
          <a:xfrm>
            <a:off x="1280160" y="5257800"/>
            <a:ext cx="104241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0A2A5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463040" y="5257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Issue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212080" y="5257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503920" y="52578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seal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Checklist-Driven Quality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1732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80160" y="1709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 per standard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4231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ISO standard has its own checklist library — clauses can't be missed.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41732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5508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40880" y="1709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Severity tracking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24231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NC / Minor NC / Observation / Opportunity tracked separately.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70332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977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280160" y="3995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required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" y="47091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needs a clause + evidence reference before submission.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3703320"/>
            <a:ext cx="5577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F5C1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55080" y="3977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A2A5F"/>
          </a:solidFill>
          <a:ln/>
        </p:spPr>
      </p:sp>
      <p:sp>
        <p:nvSpPr>
          <p:cNvPr id="23" name="Text 20"/>
          <p:cNvSpPr/>
          <p:nvPr/>
        </p:nvSpPr>
        <p:spPr>
          <a:xfrm>
            <a:off x="6355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40880" y="39959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Time-stamped trail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55080" y="470916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sign-off + lead auditor review + management approval all logged.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of 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365760" y="141732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6459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Time-to-Certify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 days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120 → 75 days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41732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6280" y="16459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Documents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26280" y="2057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526280" y="3017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 indexed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141732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16459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Backlog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458200" y="205740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−72%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458200" y="301752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977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" y="4389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 NPS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594360" y="5349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access 24×7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29768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977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26280" y="4389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4526280" y="5349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≤30 days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29600" y="3749040"/>
            <a:ext cx="3749040" cy="2194560"/>
          </a:xfrm>
          <a:prstGeom prst="roundRect">
            <a:avLst>
              <a:gd name="adj" fmla="val 5833"/>
            </a:avLst>
          </a:prstGeom>
          <a:solidFill>
            <a:srgbClr val="070F26"/>
          </a:solidFill>
          <a:ln w="12700">
            <a:solidFill>
              <a:srgbClr val="F5C1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58200" y="3977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Load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458200" y="4389120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 hrs/wk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8458200" y="53492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 handoffs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4173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17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645920" y="141732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3 certification bodies (8 countries)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469880" y="169164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15803D"/>
          </a:solidFill>
          <a:ln/>
        </p:spPr>
      </p:sp>
      <p:sp>
        <p:nvSpPr>
          <p:cNvPr id="11" name="Text 8"/>
          <p:cNvSpPr/>
          <p:nvPr/>
        </p:nvSpPr>
        <p:spPr>
          <a:xfrm>
            <a:off x="1046988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560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1645920" y="256032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88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 to Postgres + multi-tenant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469880" y="283464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1046988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033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703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1645920" y="370332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0" y="3703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auditor app + offline-first sync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469880" y="397764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/>
        </p:spPr>
      </p:sp>
      <p:sp>
        <p:nvSpPr>
          <p:cNvPr id="23" name="Text 20"/>
          <p:cNvSpPr/>
          <p:nvPr/>
        </p:nvSpPr>
        <p:spPr>
          <a:xfrm>
            <a:off x="10469880" y="3977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8463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5C130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4846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1645920" y="4846320"/>
            <a:ext cx="8686800" cy="914400"/>
          </a:xfrm>
          <a:prstGeom prst="rect">
            <a:avLst/>
          </a:prstGeom>
          <a:solidFill>
            <a:srgbClr val="F8FAFC"/>
          </a:solidFill>
          <a:ln w="5080">
            <a:solidFill>
              <a:srgbClr val="1F6BB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0" y="4846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auto-drafting reports + risk scoring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0469880" y="5120640"/>
            <a:ext cx="1188720" cy="36576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/>
        </p:spPr>
      </p:sp>
      <p:sp>
        <p:nvSpPr>
          <p:cNvPr id="29" name="Text 26"/>
          <p:cNvSpPr/>
          <p:nvPr/>
        </p:nvSpPr>
        <p:spPr>
          <a:xfrm>
            <a:off x="10469880" y="5120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3" name="Image 0" descr="/tmp/pptx-build/logo-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274320"/>
            <a:ext cx="128016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005840"/>
            <a:ext cx="100584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371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011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fragmented spreadsheets + email with a single workspace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37160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roles, one truth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0" y="2011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 of duties — no data crosses role boundaries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2926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92608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14-stage rigor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1520" y="35661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certification flows through documented gates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292608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26480" y="292608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AI-amplified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0" y="35661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assistant accelerates every role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480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48056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Global-ready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1520" y="5120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Multi-country, multi-standard, multi-language out of the box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4480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6350">
            <a:solidFill>
              <a:srgbClr val="F5C13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4480560"/>
            <a:ext cx="137160" cy="1417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client portal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51206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see their own data 24×7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CertiSphere · Global Certification Management Platform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69848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C130"/>
          </a:solidFill>
          <a:ln/>
        </p:spPr>
      </p:sp>
      <p:pic>
        <p:nvPicPr>
          <p:cNvPr id="4" name="Image 0" descr="/tmp/pptx-build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822960"/>
            <a:ext cx="1097280" cy="914400"/>
          </a:xfrm>
          <a:prstGeom prst="rect">
            <a:avLst/>
          </a:prstGeom>
        </p:spPr>
      </p:pic>
      <p:pic>
        <p:nvPicPr>
          <p:cNvPr id="5" name="Image 1" descr="/tmp/pptx-build/logo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20240"/>
            <a:ext cx="420624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31089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i="1" dirty="0">
                <a:solidFill>
                  <a:srgbClr val="F5C1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3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certification operations, delivered globally.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486400" y="4983480"/>
            <a:ext cx="1188720" cy="54864"/>
          </a:xfrm>
          <a:prstGeom prst="rect">
            <a:avLst/>
          </a:prstGeom>
          <a:solidFill>
            <a:srgbClr val="F5C130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C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hello@certisphere.example   ·   +91 40 0000 0000   ·   certisphere.example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 + NABCB accredited · ISO/IEC 17021-1 compliant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CertiSphere — Global Certification Management Platform</dc:title>
  <dc:subject>PptxGenJS Presentation</dc:subject>
  <dc:creator>PptxGenJS</dc:creator>
  <cp:lastModifiedBy>PptxGenJS</cp:lastModifiedBy>
  <cp:revision>1</cp:revision>
  <dcterms:created xsi:type="dcterms:W3CDTF">2026-06-07T04:49:27Z</dcterms:created>
  <dcterms:modified xsi:type="dcterms:W3CDTF">2026-06-07T04:49:27Z</dcterms:modified>
</cp:coreProperties>
</file>