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4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63040"/>
            <a:ext cx="32004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4688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i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CertiSphere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749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Certification Management Platform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Certification Operations · Delivered Globally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0160" y="54864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54864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17021-1 Compliant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54864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0" y="54864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 + NABCB Accredited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54864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54864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Countries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61120" y="54864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0" y="54864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Multi-Standard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258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44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325880" y="1417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1719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+ product overview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3258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444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086600" y="1417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86600" y="1719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certification needs CertiSphere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2402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23591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32588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26334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· 14-stage workflow · 5 roles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22402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23591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08660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86600" y="26334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Qmics Certification AI assistant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1546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2735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32588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 of Roles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25880" y="35478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work moves across roles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17920" y="31546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32735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708660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Benefits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86600" y="35478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gains for certification bodies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0690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1879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1325880" y="4160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325880" y="44622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and interactions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17920" y="40690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55080" y="41879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7086600" y="4160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Checklist &amp; Approvals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086600" y="44622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end-to-end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" y="49834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5102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1325880" y="5074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System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1325880" y="53766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+ roadmap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platform: 35 years of certification expertise distilled into software.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CertiSphere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258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is an end-to-end Certification Management System built for global certification bodies running multi-standard, multi-country audit programmes under ISO/IEC 17021-1.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035808"/>
            <a:ext cx="164592" cy="164592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9260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platform for enquiry → certification → surveillance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538728"/>
            <a:ext cx="164592" cy="164592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4290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 personas with strict separation of duties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041648"/>
            <a:ext cx="164592" cy="164592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9319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workflow tracker across 14 stages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4544568"/>
            <a:ext cx="164592" cy="164592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4348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operations with the Qmics Certification AI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0" y="1325880"/>
            <a:ext cx="4846320" cy="4572000"/>
          </a:xfrm>
          <a:prstGeom prst="roundRect">
            <a:avLst>
              <a:gd name="adj" fmla="val 3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QMICS Solutions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040880" y="2286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years in Industrial Engineering, IT, Quality &amp; Process Management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40880" y="3200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5600" dirty="0"/>
          </a:p>
        </p:txBody>
      </p:sp>
      <p:sp>
        <p:nvSpPr>
          <p:cNvPr id="20" name="Text 17"/>
          <p:cNvSpPr/>
          <p:nvPr/>
        </p:nvSpPr>
        <p:spPr>
          <a:xfrm>
            <a:off x="704088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Stages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595360" y="3200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600" dirty="0"/>
          </a:p>
        </p:txBody>
      </p:sp>
      <p:sp>
        <p:nvSpPr>
          <p:cNvPr id="22" name="Text 19"/>
          <p:cNvSpPr/>
          <p:nvPr/>
        </p:nvSpPr>
        <p:spPr>
          <a:xfrm>
            <a:off x="859536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Personas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149840" y="3200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600" dirty="0"/>
          </a:p>
        </p:txBody>
      </p:sp>
      <p:sp>
        <p:nvSpPr>
          <p:cNvPr id="24" name="Text 21"/>
          <p:cNvSpPr/>
          <p:nvPr/>
        </p:nvSpPr>
        <p:spPr>
          <a:xfrm>
            <a:off x="1014984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40880" y="4937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"Structured certification operations, delivered globally."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&amp; Mission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00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822960" y="2240280"/>
            <a:ext cx="73152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1460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certification operations as standardised, predictable, and globally portable as the standards themselves — eliminating fragmented spreadsheets across audit bodies worldwide.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600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6492240" y="2240280"/>
            <a:ext cx="73152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51460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every certification stage into a single, role-aware, AI-assisted workspace where Coordinators, Auditors, Management and Auditees handoff seamlessly.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certification bodies need a unified platform — and the cost of staying on spreadsheets.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Pain Points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2588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300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info scattered across email, spreadsheets, paper forms.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32588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554480"/>
            <a:ext cx="36576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02920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Handoffs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210312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+ emails route work between coordinator, auditor, management.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0" y="132588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ED7AA"/>
          </a:solidFill>
          <a:ln w="6350">
            <a:solidFill>
              <a:srgbClr val="7C2D1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0" y="1554480"/>
            <a:ext cx="365760" cy="36576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91540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Risk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12480" y="210312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surveillance / recertification dates due to no central tracker.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703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ECACA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430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0080" y="448056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what, when? Hard to reconstruct for accreditation review.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43400" y="3703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DE68A"/>
          </a:solidFill>
          <a:ln w="6350">
            <a:solidFill>
              <a:srgbClr val="A1620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3931920"/>
            <a:ext cx="365760" cy="365760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28" name="Text 25"/>
          <p:cNvSpPr/>
          <p:nvPr/>
        </p:nvSpPr>
        <p:spPr>
          <a:xfrm>
            <a:off x="45262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0292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62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Confusion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26280" y="448056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edited by multiple people without authority controls.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0" y="3703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FE4E6"/>
          </a:solidFill>
          <a:ln w="6350">
            <a:solidFill>
              <a:srgbClr val="9F123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12480" y="3931920"/>
            <a:ext cx="365760" cy="36576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3" name="Text 30"/>
          <p:cNvSpPr/>
          <p:nvPr/>
        </p:nvSpPr>
        <p:spPr>
          <a:xfrm>
            <a:off x="84124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89154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Gaps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412480" y="448056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 has no live view of audit pipeline or KPIs.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Inefficiency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63040"/>
            <a:ext cx="5394960" cy="2148840"/>
          </a:xfrm>
          <a:prstGeom prst="roundRect">
            <a:avLst>
              <a:gd name="adj" fmla="val 6383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6459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3200400" y="2103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cert bodies still run audit pipelines in Excel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394960" cy="2148840"/>
          </a:xfrm>
          <a:prstGeom prst="roundRect">
            <a:avLst>
              <a:gd name="adj" fmla="val 6383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6459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18hrs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8961120" y="2103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 spent per coordinator on handoff coordination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5394960" cy="2148840"/>
          </a:xfrm>
          <a:prstGeom prst="roundRect">
            <a:avLst>
              <a:gd name="adj" fmla="val 6383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0233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320040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certifications missed deadline triggers last year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3840480"/>
            <a:ext cx="5394960" cy="2148840"/>
          </a:xfrm>
          <a:prstGeom prst="roundRect">
            <a:avLst>
              <a:gd name="adj" fmla="val 6383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40233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6400" dirty="0"/>
          </a:p>
        </p:txBody>
      </p:sp>
      <p:sp>
        <p:nvSpPr>
          <p:cNvPr id="17" name="Text 14"/>
          <p:cNvSpPr/>
          <p:nvPr/>
        </p:nvSpPr>
        <p:spPr>
          <a:xfrm>
            <a:off x="896112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management reports compiled manually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benchmarks, IAF body survey 2024 (illustrative).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1371600"/>
            <a:ext cx="11247120" cy="100584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371600"/>
            <a:ext cx="137160" cy="100584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48132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Multi-country scaling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Bodies expanding into India, USA, UK, Germany, UAE, Singapore — need uniform process.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514600"/>
            <a:ext cx="11247120" cy="100584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514600"/>
            <a:ext cx="137160" cy="100584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62432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ISO/IEC 17021-1 audits tightening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3063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IAF/NABCB demand traceable digital audit trails on every stage.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657600"/>
            <a:ext cx="11247120" cy="100584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657600"/>
            <a:ext cx="137160" cy="100584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76732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churn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and auditor turnover means processes can't live in heads.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800600"/>
            <a:ext cx="11247120" cy="100584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4800600"/>
            <a:ext cx="137160" cy="100584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91032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expectations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68680" y="5349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expect live portal access to certifications + schedules.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Features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modules. 14 stages. 5 roles. One unified certification workspace.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Core Modules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2588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49047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Enquiry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leads and convert to applications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32588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49047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C130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4747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Dispatch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WhatsApp or portal link delivery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32588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55080" y="149047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C130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550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 Onboarding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competence end-to-end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098280" y="132588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35440" y="149047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C130"/>
          </a:solidFill>
          <a:ln/>
        </p:spPr>
      </p:sp>
      <p:sp>
        <p:nvSpPr>
          <p:cNvPr id="23" name="Text 20"/>
          <p:cNvSpPr/>
          <p:nvPr/>
        </p:nvSpPr>
        <p:spPr>
          <a:xfrm>
            <a:off x="923544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354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Scheduling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23544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dates, assign team, confirm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703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386791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C130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3867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9436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Workflow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94360" y="4892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14-stage tracker for every certification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37560" y="3703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386791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C130"/>
          </a:solidFill>
          <a:ln/>
        </p:spPr>
      </p:sp>
      <p:sp>
        <p:nvSpPr>
          <p:cNvPr id="33" name="Text 30"/>
          <p:cNvSpPr/>
          <p:nvPr/>
        </p:nvSpPr>
        <p:spPr>
          <a:xfrm>
            <a:off x="3474720" y="3867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47472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&amp; Actions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474720" y="4892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NCs, observations, corrective actions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217920" y="3703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55080" y="386791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C130"/>
          </a:solidFill>
          <a:ln/>
        </p:spPr>
      </p:sp>
      <p:sp>
        <p:nvSpPr>
          <p:cNvPr id="38" name="Text 35"/>
          <p:cNvSpPr/>
          <p:nvPr/>
        </p:nvSpPr>
        <p:spPr>
          <a:xfrm>
            <a:off x="6355080" y="3867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35508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355080" y="4892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Issue, seal and deliver certificates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098280" y="3703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35440" y="386791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C130"/>
          </a:solidFill>
          <a:ln/>
        </p:spPr>
      </p:sp>
      <p:sp>
        <p:nvSpPr>
          <p:cNvPr id="43" name="Text 40"/>
          <p:cNvSpPr/>
          <p:nvPr/>
        </p:nvSpPr>
        <p:spPr>
          <a:xfrm>
            <a:off x="9235440" y="3867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923544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Surveillance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235440" y="4892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+ 3-yearly recertification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14-Stage Audit Workflow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46304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57400" y="146304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5740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148840" y="20116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Submitted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49040" y="146304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840480" y="20116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Assigned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40680" y="146304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532120" y="20116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Reviewed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32320" y="146304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223760" y="20116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Proposed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823960" y="146304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2396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8915400" y="20116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Auditors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0515600" y="146304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1560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0607040" y="20116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Approved by Auditee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3474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457200" y="4023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Approved by Auditor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057400" y="3474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05740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2148840" y="4023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 Progress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749040" y="3474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4904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3840480" y="4023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Completed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440680" y="3474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4068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5532120" y="4023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132320" y="3474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3232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8"/>
          <p:cNvSpPr/>
          <p:nvPr/>
        </p:nvSpPr>
        <p:spPr>
          <a:xfrm>
            <a:off x="7223760" y="4023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Released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823960" y="3474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82396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8915400" y="4023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Approval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0515600" y="3474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51560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47" name="Text 44"/>
          <p:cNvSpPr/>
          <p:nvPr/>
        </p:nvSpPr>
        <p:spPr>
          <a:xfrm>
            <a:off x="10607040" y="4023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Released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certification record flows through these 14 stages, with role-gated handoffs at each transition.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Role Personas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63040"/>
            <a:ext cx="219456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63040"/>
            <a:ext cx="219456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" y="2194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315468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oversight, approvals, KPIs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88920" y="1463040"/>
            <a:ext cx="219456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88920" y="1463040"/>
            <a:ext cx="2194560" cy="5486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926080" y="2194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Coordinator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926080" y="315468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hub — scheduling + workflow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1463040"/>
            <a:ext cx="219456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1463040"/>
            <a:ext cx="2194560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5"/>
          <p:cNvSpPr/>
          <p:nvPr/>
        </p:nvSpPr>
        <p:spPr>
          <a:xfrm>
            <a:off x="5257800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257800" y="2194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Auditor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257800" y="315468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execution + closure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52360" y="1463040"/>
            <a:ext cx="219456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52360" y="1463040"/>
            <a:ext cx="2194560" cy="5486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7589520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589520" y="2194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589520" y="315468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checklist + findings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784080" y="1463040"/>
            <a:ext cx="219456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84080" y="1463040"/>
            <a:ext cx="2194560" cy="5486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Text 25"/>
          <p:cNvSpPr/>
          <p:nvPr/>
        </p:nvSpPr>
        <p:spPr>
          <a:xfrm>
            <a:off x="9921240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921240" y="2194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Auditee / Client Coordinator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921240" y="315468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access — read-only views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Global Scale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REGIONS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17830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4231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24231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063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0" y="30632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3063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7033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703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00400" y="37033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7560" y="3703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STANDARDS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17830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144000" y="17830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8116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14001:2015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0" y="24231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144000" y="24231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8116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45001:2018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0" y="30632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37960" y="3063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22000:2018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144000" y="30632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81160" y="3063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13485:2016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0" y="37033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37960" y="3703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50001:2018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144000" y="37033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281160" y="3703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42001:2023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Usage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Qmics Certification AI — your in-app assistant for audit operations.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Qmics Certification AI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AI assistant accessible from every role, every page.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0A2A5F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C13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468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Role-aware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25880" y="29718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each role can ask — Coordinator vs Management vs Auditor.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21945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0A2A5F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C130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95160" y="2468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Workflow-aware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995160" y="29718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reference your actual workflow rows + stages.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0A2A5F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4297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C130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2588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available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325880" y="4800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Floating, draggable chatbot follows you across every page.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40233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0A2A5F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4297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C130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9516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BYO Claude key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995160" y="4800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your own API key for advanced answers; offline rule engine otherwise.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Helps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54864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7160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on policy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surveillance cycle for ISO 27001?"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54864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137160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lookup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0" y="20116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clients are at Audit In Progress this week?"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54864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92608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assistance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520" y="35661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audit report introductions in 30 seconds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26480" y="2926080"/>
            <a:ext cx="54864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292608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flagging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0" y="35661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Major NCs and recommend next steps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480560"/>
            <a:ext cx="54864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448056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suggest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31520" y="5120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optimal slots based on auditor availability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26480" y="4480560"/>
            <a:ext cx="54864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448056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 lookups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00800" y="5120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expiry dates + required actions for any client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— Quantified Benefits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5394960" cy="2240280"/>
          </a:xfrm>
          <a:prstGeom prst="roundRect">
            <a:avLst>
              <a:gd name="adj" fmla="val 5714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4592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3154680" y="2057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query resolution for coordinators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394960" cy="2240280"/>
          </a:xfrm>
          <a:prstGeom prst="roundRect">
            <a:avLst>
              <a:gd name="adj" fmla="val 5714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164592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8915400" y="2057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escalations to management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5394960" cy="2240280"/>
          </a:xfrm>
          <a:prstGeom prst="roundRect">
            <a:avLst>
              <a:gd name="adj" fmla="val 5714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11480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6000" dirty="0"/>
          </a:p>
        </p:txBody>
      </p:sp>
      <p:sp>
        <p:nvSpPr>
          <p:cNvPr id="14" name="Text 11"/>
          <p:cNvSpPr/>
          <p:nvPr/>
        </p:nvSpPr>
        <p:spPr>
          <a:xfrm>
            <a:off x="3154680" y="4526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audit report drafting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3840480"/>
            <a:ext cx="5394960" cy="2240280"/>
          </a:xfrm>
          <a:prstGeom prst="roundRect">
            <a:avLst>
              <a:gd name="adj" fmla="val 5714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411480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000" dirty="0"/>
          </a:p>
        </p:txBody>
      </p:sp>
      <p:sp>
        <p:nvSpPr>
          <p:cNvPr id="17" name="Text 14"/>
          <p:cNvSpPr/>
          <p:nvPr/>
        </p:nvSpPr>
        <p:spPr>
          <a:xfrm>
            <a:off x="8915400" y="4526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— never leaks data across role boundaries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Chart of Roles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certification application moves across all five roles.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Role Flow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3716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047857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0292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Auditee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23774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application via public site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0E7490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2900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Coordinator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29000" y="23774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+ assigns workflow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B45309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5508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Auditor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55080" y="23774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team + schedule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44000" y="13716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1D4ED8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8116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28116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281160" y="23774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on-site audit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6576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B45309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0292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Auditor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02920" y="46634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findings, signs off report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91840" y="36576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7C3AED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42900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429000" y="46634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certification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36576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0E7490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5508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35508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 Coordinator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355080" y="46634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certificate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144000" y="36576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047857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8116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281160" y="4206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Auditee / Client Coord.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281160" y="46634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certificate + portal access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Cross-Role Handoff Mechanics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3810">
            <a:solidFill>
              <a:srgbClr val="1F6B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71600"/>
            <a:ext cx="109728" cy="68580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08760" y="13716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is logged with timestamp + actor identity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3810">
            <a:solidFill>
              <a:srgbClr val="1F6B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194560"/>
            <a:ext cx="109728" cy="68580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08760" y="21945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bell on every screen shows pending items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0175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3810">
            <a:solidFill>
              <a:srgbClr val="1F6B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017520"/>
            <a:ext cx="109728" cy="68580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508760" y="30175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"Pending for you" inbox derives live counts from the workflow store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3810">
            <a:solidFill>
              <a:srgbClr val="1F6BB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840480"/>
            <a:ext cx="109728" cy="68580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508760" y="3840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handoffs surface as 🟡 amber alerts; overdue as 🔴 red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46634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3810">
            <a:solidFill>
              <a:srgbClr val="1F6BB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4663440"/>
            <a:ext cx="109728" cy="68580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4709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508760" y="4663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moves backwards without an explicit Send Back action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" y="54864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3810">
            <a:solidFill>
              <a:srgbClr val="1F6BB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5486400"/>
            <a:ext cx="109728" cy="68580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532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1508760" y="5486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the stages they own — strict separation of duties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Role Sees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rgbClr val="0A2A5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54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548640" cy="457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Assignments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 Approvals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Onboarding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Credentials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Settings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9768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60" y="1554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Coordinator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480560" y="2194560"/>
            <a:ext cx="548640" cy="457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7" name="Text 14"/>
          <p:cNvSpPr/>
          <p:nvPr/>
        </p:nvSpPr>
        <p:spPr>
          <a:xfrm>
            <a:off x="448056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Workflow Map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8056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Schedules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48056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Workflow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48056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Enquiry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8056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Dispatch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480560" y="4434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 Profiles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480560" y="4846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Types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rgbClr val="0A2A5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2480" y="1554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Auditor / Auditor / Client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8412480" y="2194560"/>
            <a:ext cx="548640" cy="457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7" name="Text 24"/>
          <p:cNvSpPr/>
          <p:nvPr/>
        </p:nvSpPr>
        <p:spPr>
          <a:xfrm>
            <a:off x="841248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Schedules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1248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Conduct Audit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Report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41248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Review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41248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Portal (read-only)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&amp; Benefits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gains for certification bodies running CertiSphere.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Six Benefits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46304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34440" y="17099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23774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every market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16916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166360" y="17099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80560" y="23774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duties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0" y="146304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0" y="16916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098280" y="17099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12480" y="23774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pending inbox, never miss a handoff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384048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0690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234440" y="40873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Demo-Ready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seeders populate every screen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97680" y="384048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80560" y="40690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28" name="Text 25"/>
          <p:cNvSpPr/>
          <p:nvPr/>
        </p:nvSpPr>
        <p:spPr>
          <a:xfrm>
            <a:off x="44805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166360" y="40873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Multi-Country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480560" y="47548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countries, multi-currency, multi-timezone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29600" y="384048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12480" y="40690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33" name="Text 30"/>
          <p:cNvSpPr/>
          <p:nvPr/>
        </p:nvSpPr>
        <p:spPr>
          <a:xfrm>
            <a:off x="84124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098280" y="40873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412480" y="47548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Qmics Certification AI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KPIs (Pilot Data)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463040"/>
            <a:ext cx="2743200" cy="4389120"/>
          </a:xfrm>
          <a:prstGeom prst="roundRect">
            <a:avLst>
              <a:gd name="adj" fmla="val 4667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91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Shape 5"/>
          <p:cNvSpPr/>
          <p:nvPr/>
        </p:nvSpPr>
        <p:spPr>
          <a:xfrm>
            <a:off x="1417320" y="3383280"/>
            <a:ext cx="64008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cycle-time reduction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4023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→ certification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463040"/>
            <a:ext cx="2743200" cy="4389120"/>
          </a:xfrm>
          <a:prstGeom prst="roundRect">
            <a:avLst>
              <a:gd name="adj" fmla="val 4667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9000" y="1691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6400" dirty="0"/>
          </a:p>
        </p:txBody>
      </p:sp>
      <p:sp>
        <p:nvSpPr>
          <p:cNvPr id="13" name="Shape 10"/>
          <p:cNvSpPr/>
          <p:nvPr/>
        </p:nvSpPr>
        <p:spPr>
          <a:xfrm>
            <a:off x="4343400" y="3383280"/>
            <a:ext cx="64008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on-time surveillance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29000" y="4023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expired certs slipped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463040"/>
            <a:ext cx="2743200" cy="4389120"/>
          </a:xfrm>
          <a:prstGeom prst="roundRect">
            <a:avLst>
              <a:gd name="adj" fmla="val 4667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691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6400" dirty="0"/>
          </a:p>
        </p:txBody>
      </p:sp>
      <p:sp>
        <p:nvSpPr>
          <p:cNvPr id="18" name="Shape 15"/>
          <p:cNvSpPr/>
          <p:nvPr/>
        </p:nvSpPr>
        <p:spPr>
          <a:xfrm>
            <a:off x="7269480" y="3383280"/>
            <a:ext cx="64008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email threads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55080" y="4023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by in-app handoffs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144000" y="1463040"/>
            <a:ext cx="2743200" cy="4389120"/>
          </a:xfrm>
          <a:prstGeom prst="roundRect">
            <a:avLst>
              <a:gd name="adj" fmla="val 4667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81160" y="1691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400" dirty="0"/>
          </a:p>
        </p:txBody>
      </p:sp>
      <p:sp>
        <p:nvSpPr>
          <p:cNvPr id="23" name="Shape 20"/>
          <p:cNvSpPr/>
          <p:nvPr/>
        </p:nvSpPr>
        <p:spPr>
          <a:xfrm>
            <a:off x="10195560" y="3383280"/>
            <a:ext cx="64008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4" name="Text 21"/>
          <p:cNvSpPr/>
          <p:nvPr/>
        </p:nvSpPr>
        <p:spPr>
          <a:xfrm>
            <a:off x="928116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 capture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281160" y="4023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timestamped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vs. After CertiSphere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557784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716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26480" y="1371600"/>
            <a:ext cx="5577840" cy="5029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13716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Excel + email handoffs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96596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Single in-app workflow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60604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606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 schedule chasing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260604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2606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Auto-confirm + notify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24612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Lost findings, no audit log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6480" y="324612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timestamped audit trail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88620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3886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Reports compiled monthly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26480" y="388620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3886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dashboards per role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52628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4526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Client calls coordinator for status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26480" y="452628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4526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Read-only client portal 24×7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516636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5166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One coordinator does it all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26480" y="516636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09360" y="5166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Strict 5-role separation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Diagram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Actors, primary use cases, and how they interact.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Actors &amp; Use Cases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630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A2A5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600200"/>
            <a:ext cx="594360" cy="594360"/>
          </a:xfrm>
          <a:prstGeom prst="ellipse">
            <a:avLst/>
          </a:prstGeom>
          <a:solidFill>
            <a:srgbClr val="F5C130"/>
          </a:solidFill>
          <a:ln w="12700">
            <a:solidFill>
              <a:srgbClr val="0A2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25880" y="14630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/ Client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A2A5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743200"/>
            <a:ext cx="594360" cy="594360"/>
          </a:xfrm>
          <a:prstGeom prst="ellipse">
            <a:avLst/>
          </a:prstGeom>
          <a:solidFill>
            <a:srgbClr val="F5C130"/>
          </a:solidFill>
          <a:ln w="12700">
            <a:solidFill>
              <a:srgbClr val="0A2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325880" y="26060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Coordinator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A2A5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3886200"/>
            <a:ext cx="594360" cy="594360"/>
          </a:xfrm>
          <a:prstGeom prst="ellipse">
            <a:avLst/>
          </a:prstGeom>
          <a:solidFill>
            <a:srgbClr val="F5C130"/>
          </a:solidFill>
          <a:ln w="12700">
            <a:solidFill>
              <a:srgbClr val="0A2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325880" y="37490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 / Auditor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8920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A2A5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5029200"/>
            <a:ext cx="594360" cy="594360"/>
          </a:xfrm>
          <a:prstGeom prst="ellipse">
            <a:avLst/>
          </a:prstGeom>
          <a:solidFill>
            <a:srgbClr val="F5C130"/>
          </a:solidFill>
          <a:ln w="12700">
            <a:solidFill>
              <a:srgbClr val="0A2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325880" y="48920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0" y="1463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0" y="1463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Application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46520" y="1463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1463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Workflow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235440" y="1463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35440" y="1463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Audit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657600" y="2606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0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Schedule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46520" y="2606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46520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Audit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235440" y="2606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35440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Findings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57600" y="3749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0" y="3749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Actions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46520" y="3749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3749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235440" y="3749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235440" y="3749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657600" y="4892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0" y="4892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Onboarding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46520" y="4892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46520" y="4892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KPIs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235440" y="489204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235440" y="4892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Standards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Interactions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71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0" y="13716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00400" y="137160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371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Application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0" y="13716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675120" y="13716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1F6B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1371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cms_client_registrations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1488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148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743200" y="2148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3200400" y="214884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0" y="21488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 Management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17920" y="2148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675120" y="214884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1F6B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2148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cms_client_onboarding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2926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43200" y="29260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3200400" y="292608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0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17920" y="29260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675120" y="292608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1F6BB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0" y="2926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cms_audit_workflow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033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3703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743200" y="3703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3200400" y="37033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Schedule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17920" y="3703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6675120" y="370332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1F6BB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75120" y="3703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cms_audit_schedules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" y="448056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" y="4480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743200" y="44805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3200400" y="44805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00400" y="4480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Findings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217920" y="44805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6675120" y="448056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1F6BB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75120" y="4480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cms_audit_findings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57200" y="52578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5257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743200" y="5257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3200400" y="525780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0" y="5257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217920" y="5257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52" name="Shape 49"/>
          <p:cNvSpPr/>
          <p:nvPr/>
        </p:nvSpPr>
        <p:spPr>
          <a:xfrm>
            <a:off x="6675120" y="52578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6350">
            <a:solidFill>
              <a:srgbClr val="1F6BB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675120" y="5257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cms_certifications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Streamlined Checklist &amp; Approvals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at every stage — nothing slips through.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Chain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716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280160" y="137160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1371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Review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13716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03920" y="13716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completeness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14884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1488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1280160" y="214884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2148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1208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03920" y="21488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to become live client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92608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9260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1280160" y="292608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63040" y="2926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Approval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12080" y="2926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+ Auditor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03920" y="29260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confirmation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70332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37033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1280160" y="370332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63040" y="3703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Review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212080" y="3703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503920" y="3703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corrective actions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48056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4805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Shape 29"/>
          <p:cNvSpPr/>
          <p:nvPr/>
        </p:nvSpPr>
        <p:spPr>
          <a:xfrm>
            <a:off x="1280160" y="448056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63040" y="44805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Sign-Off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212080" y="44805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503920" y="44805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approval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525780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52578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Shape 35"/>
          <p:cNvSpPr/>
          <p:nvPr/>
        </p:nvSpPr>
        <p:spPr>
          <a:xfrm>
            <a:off x="1280160" y="525780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463040" y="5257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 Issue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212080" y="5257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503920" y="5257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seal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Checklist-Driven Quality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37160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64592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A2A5F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1664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Templates per standard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37744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ISO standard has its own checklist library — auditors can't miss clauses.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164592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A2A5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40880" y="1664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 tracking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5080" y="237744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NC / Minor NC / Observation / Opportunity tracked separately.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365760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93192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A2A5F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280160" y="3950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required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4360" y="466344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needs a clause + evidence reference before submission.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365760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5080" y="393192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A2A5F"/>
          </a:solidFill>
          <a:ln/>
        </p:spPr>
      </p:sp>
      <p:sp>
        <p:nvSpPr>
          <p:cNvPr id="23" name="Text 20"/>
          <p:cNvSpPr/>
          <p:nvPr/>
        </p:nvSpPr>
        <p:spPr>
          <a:xfrm>
            <a:off x="63550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40880" y="3950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Time-stamped trail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55080" y="466344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sign-off + lead auditor review + management approval all logged.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Notifications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has a notifications bell pinned to the top-right of every page.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4231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371600" y="2377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approved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needs to confirm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4231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132320" y="2377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released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submits corrective actions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4747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703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371600" y="36576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items returned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 reviews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34747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3703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132320" y="36576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 ready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13232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approval gate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75488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49834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1371600" y="4937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Surveillance due ≤30 days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37160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schedules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17920" y="475488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A2A5F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49834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7132320" y="4937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Recertification due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13232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 team forms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of System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organisations achieve with CertiSphere live.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 Outcomes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37160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Time-to-Certify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−45 days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2926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drop from 120 → 75 days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Documents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80560" y="2011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480560" y="2926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 indexed + searchable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137160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Backlog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0" y="2011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−72%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412480" y="2926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workflow visibility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74904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3891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 NPS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548640" y="5303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portal access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297680" y="374904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8056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Compliance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80560" y="43891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4480560" y="5303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Auto-alerts ≤30 days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0" y="374904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Load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412480" y="43891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−18hrs/wk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8412480" y="5303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email handoffs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28600"/>
            <a:ext cx="1188720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6304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5C13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4630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645920" y="1463040"/>
            <a:ext cx="8686800" cy="91440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3 certification bodies (8 countries)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424160" y="173736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1" name="Text 8"/>
          <p:cNvSpPr/>
          <p:nvPr/>
        </p:nvSpPr>
        <p:spPr>
          <a:xfrm>
            <a:off x="1042416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60604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5C13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6060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645920" y="2606040"/>
            <a:ext cx="8686800" cy="91440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0" y="2606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migration to Postgres + multi-tenant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424160" y="288036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10424160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5C130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7490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1645920" y="3749040"/>
            <a:ext cx="8686800" cy="91440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auditor app + offline-first sync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424160" y="402336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/>
        </p:spPr>
      </p:sp>
      <p:sp>
        <p:nvSpPr>
          <p:cNvPr id="23" name="Text 20"/>
          <p:cNvSpPr/>
          <p:nvPr/>
        </p:nvSpPr>
        <p:spPr>
          <a:xfrm>
            <a:off x="1042416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89204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5C130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8920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1645920" y="4892040"/>
            <a:ext cx="8686800" cy="91440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28800" y="4892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auto-drafting for audit reports + risk scoring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424160" y="516636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/>
        </p:spPr>
      </p:sp>
      <p:sp>
        <p:nvSpPr>
          <p:cNvPr id="29" name="Text 26"/>
          <p:cNvSpPr/>
          <p:nvPr/>
        </p:nvSpPr>
        <p:spPr>
          <a:xfrm>
            <a:off x="10424160" y="5166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4" name="Image 0" descr="/tmp/pptx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280160"/>
            <a:ext cx="32004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i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certification operations, delivered globally.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0" y="4434840"/>
            <a:ext cx="118872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hello@certisphere.example   ·   +91 40 0000 0000   ·   certisphere.example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 + NABCB accredited · ISO/IEC 17021-1 compliant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CertiSphere — Global Certification Management Platform</dc:title>
  <dc:subject>PptxGenJS Presentation</dc:subject>
  <dc:creator>PptxGenJS</dc:creator>
  <cp:lastModifiedBy>PptxGenJS</cp:lastModifiedBy>
  <cp:revision>1</cp:revision>
  <dcterms:created xsi:type="dcterms:W3CDTF">2026-06-06T15:36:48Z</dcterms:created>
  <dcterms:modified xsi:type="dcterms:W3CDTF">2026-06-06T15:36:48Z</dcterms:modified>
</cp:coreProperties>
</file>